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2399288" cy="43200638"/>
  <p:notesSz cx="6858000" cy="9144000"/>
  <p:defaultTextStyle>
    <a:defPPr>
      <a:defRPr lang="zh-CN"/>
    </a:defPPr>
    <a:lvl1pPr marL="0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1pPr>
    <a:lvl2pPr marL="1814398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2pPr>
    <a:lvl3pPr marL="362879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3pPr>
    <a:lvl4pPr marL="5443195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4pPr>
    <a:lvl5pPr marL="7257593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5pPr>
    <a:lvl6pPr marL="9071991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6pPr>
    <a:lvl7pPr marL="10886389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7pPr>
    <a:lvl8pPr marL="12700787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8pPr>
    <a:lvl9pPr marL="1451518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98"/>
    <p:restoredTop sz="96621"/>
  </p:normalViewPr>
  <p:slideViewPr>
    <p:cSldViewPr snapToGrid="0" snapToObjects="1">
      <p:cViewPr>
        <p:scale>
          <a:sx n="22" d="100"/>
          <a:sy n="22" d="100"/>
        </p:scale>
        <p:origin x="29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  <a:prstGeom prst="rect">
            <a:avLst/>
          </a:prstGeom>
        </p:spPr>
        <p:txBody>
          <a:bodyPr anchor="b"/>
          <a:lstStyle>
            <a:lvl1pPr algn="ctr">
              <a:defRPr sz="212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3887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045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  <a:prstGeom prst="rect">
            <a:avLst/>
          </a:prstGeom>
        </p:spPr>
        <p:txBody>
          <a:bodyPr anchor="b"/>
          <a:lstStyle>
            <a:lvl1pPr>
              <a:defRPr sz="212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0567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3351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1624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6795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837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  <a:prstGeom prst="rect">
            <a:avLst/>
          </a:prstGeom>
        </p:spPr>
        <p:txBody>
          <a:bodyPr anchor="b"/>
          <a:lstStyle>
            <a:lvl1pPr>
              <a:defRPr sz="1133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  <a:prstGeom prst="rect">
            <a:avLst/>
          </a:prstGeo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132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  <a:prstGeom prst="rect">
            <a:avLst/>
          </a:prstGeom>
        </p:spPr>
        <p:txBody>
          <a:bodyPr anchor="b"/>
          <a:lstStyle>
            <a:lvl1pPr>
              <a:defRPr sz="1133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3105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7669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1768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7DD5663-0087-6C4D-9405-5082F9B96A0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"/>
            <a:ext cx="32399288" cy="4319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085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725027D-1525-43A6-A378-724355AAAF86}"/>
              </a:ext>
            </a:extLst>
          </p:cNvPr>
          <p:cNvSpPr txBox="1"/>
          <p:nvPr/>
        </p:nvSpPr>
        <p:spPr>
          <a:xfrm>
            <a:off x="914400" y="40918741"/>
            <a:ext cx="30568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作者：张翔宇  2022012081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9B2027-5AD4-A028-4957-9805412066CA}"/>
              </a:ext>
            </a:extLst>
          </p:cNvPr>
          <p:cNvSpPr txBox="1"/>
          <p:nvPr/>
        </p:nvSpPr>
        <p:spPr>
          <a:xfrm>
            <a:off x="914400" y="41821083"/>
            <a:ext cx="30568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邮箱：xiangyuz22@mails.tsinghua.edu.cn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BA5142-84FB-7C40-94AC-2EEAF750028E}"/>
              </a:ext>
            </a:extLst>
          </p:cNvPr>
          <p:cNvSpPr txBox="1"/>
          <p:nvPr/>
        </p:nvSpPr>
        <p:spPr>
          <a:xfrm>
            <a:off x="-149834" y="777158"/>
            <a:ext cx="323992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/>
              </a:rPr>
              <a:t>大模型驱动的软件开发</a:t>
            </a:r>
            <a:r>
              <a:rPr kumimoji="1" lang="zh-TW" altLang="en-US" sz="1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/>
              </a:rPr>
              <a:t> </a:t>
            </a:r>
            <a:r>
              <a:rPr kumimoji="1" lang="zh-CN" altLang="en-US" sz="1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/>
              </a:rPr>
              <a:t>课程成果展示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C96CDC-8EF7-0BD6-0CFC-57CCABFDD2A4}"/>
              </a:ext>
            </a:extLst>
          </p:cNvPr>
          <p:cNvSpPr txBox="1"/>
          <p:nvPr/>
        </p:nvSpPr>
        <p:spPr>
          <a:xfrm>
            <a:off x="1" y="2944350"/>
            <a:ext cx="323992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/>
              </a:rPr>
              <a:t>2026</a:t>
            </a:r>
            <a:r>
              <a:rPr kumimoji="1" lang="zh-CN" altLang="en-US" sz="8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/>
              </a:rPr>
              <a:t> 春季学期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83480"/>
            <a:ext cx="31272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2000"/>
              </a:spcAft>
            </a:pPr>
            <a:r>
              <a:rPr sz="6000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智能邮件管理代理  ·  Mail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大模型驱动的 Gmail + Google Calendar 邮件自动化代理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7406640"/>
            <a:ext cx="31117032" cy="7269480"/>
          </a:xfrm>
          <a:prstGeom prst="roundRect">
            <a:avLst>
              <a:gd name="adj" fmla="val 2000"/>
            </a:avLst>
          </a:prstGeom>
          <a:solidFill>
            <a:srgbClr val="F9F6FC"/>
          </a:solidFill>
          <a:ln w="19050">
            <a:solidFill>
              <a:srgbClr val="DDD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7406640"/>
            <a:ext cx="31117032" cy="914400"/>
          </a:xfrm>
          <a:prstGeom prst="roundRect">
            <a:avLst>
              <a:gd name="adj" fmla="val 12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47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系统架构  System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8823959"/>
            <a:ext cx="5455310" cy="1554480"/>
          </a:xfrm>
          <a:prstGeom prst="roundRect">
            <a:avLst>
              <a:gd name="adj" fmla="val 14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4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Gmail API / IMAP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25742" y="9308591"/>
            <a:ext cx="585216" cy="585216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84110" y="8823959"/>
            <a:ext cx="5455310" cy="1554480"/>
          </a:xfrm>
          <a:prstGeom prst="roundRect">
            <a:avLst>
              <a:gd name="adj" fmla="val 14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4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邮件解析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4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Parser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2812572" y="9308591"/>
            <a:ext cx="585216" cy="585216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470940" y="8823959"/>
            <a:ext cx="5455310" cy="1554480"/>
          </a:xfrm>
          <a:prstGeom prst="roundRect">
            <a:avLst>
              <a:gd name="adj" fmla="val 14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4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LLM 语义分析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4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8999403" y="9308591"/>
            <a:ext cx="585216" cy="585216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657771" y="8823959"/>
            <a:ext cx="5455310" cy="1554480"/>
          </a:xfrm>
          <a:prstGeom prst="roundRect">
            <a:avLst>
              <a:gd name="adj" fmla="val 14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4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意图路由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4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Router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5186233" y="9308591"/>
            <a:ext cx="585216" cy="585216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844601" y="8823959"/>
            <a:ext cx="5455310" cy="1554480"/>
          </a:xfrm>
          <a:prstGeom prst="roundRect">
            <a:avLst>
              <a:gd name="adj" fmla="val 14000"/>
            </a:avLst>
          </a:prstGeom>
          <a:solidFill>
            <a:srgbClr val="F1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4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意图分发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4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Dispatch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6094476" y="10927079"/>
            <a:ext cx="640080" cy="713232"/>
          </a:xfrm>
          <a:prstGeom prst="down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25396" y="11704319"/>
            <a:ext cx="8778240" cy="1463040"/>
          </a:xfrm>
          <a:prstGeom prst="roundRect">
            <a:avLst>
              <a:gd name="adj" fmla="val 14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36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Google Calendar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36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日程事件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5878556" y="10927079"/>
            <a:ext cx="640080" cy="713232"/>
          </a:xfrm>
          <a:prstGeom prst="down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809476" y="11704319"/>
            <a:ext cx="8778240" cy="1463040"/>
          </a:xfrm>
          <a:prstGeom prst="roundRect">
            <a:avLst>
              <a:gd name="adj" fmla="val 14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36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Gmail 草稿 / 发送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25662636" y="10927079"/>
            <a:ext cx="640080" cy="713232"/>
          </a:xfrm>
          <a:prstGeom prst="down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593556" y="11704319"/>
            <a:ext cx="8778240" cy="1463040"/>
          </a:xfrm>
          <a:prstGeom prst="roundRect">
            <a:avLst>
              <a:gd name="adj" fmla="val 14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36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优先级评分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36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收件箱排序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13670279"/>
            <a:ext cx="298368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45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端到端流水线：从邮箱（Gmail API 或 IMAP）拉取未读邮件，经大模型完成语义理解后，由意图路由识别邮件类型并分发到三条下游——日历调度（解析时间、检测冲突、写入 Google Calendar）、回复生成（按你的风格生成草稿或发送）、优先级排序（综合发件人与截止日期打分）。各模块分层解耦、可独立测试；邮件来源（IMAP / Gmail API）与日历后端（本地 JSON / Google Calendar）均可替换。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14813280"/>
            <a:ext cx="15270480" cy="8138160"/>
          </a:xfrm>
          <a:prstGeom prst="roundRect">
            <a:avLst>
              <a:gd name="adj" fmla="val 2000"/>
            </a:avLst>
          </a:prstGeom>
          <a:solidFill>
            <a:srgbClr val="F9F6FC"/>
          </a:solidFill>
          <a:ln w="19050">
            <a:solidFill>
              <a:srgbClr val="DDD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14813280"/>
            <a:ext cx="15270480" cy="914400"/>
          </a:xfrm>
          <a:prstGeom prst="roundRect">
            <a:avLst>
              <a:gd name="adj" fmla="val 12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47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邮件语义理解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16322040"/>
            <a:ext cx="2926080" cy="2011680"/>
          </a:xfrm>
          <a:prstGeom prst="roundRect">
            <a:avLst>
              <a:gd name="adj" fmla="val 14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4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原始邮件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160520" y="17035272"/>
            <a:ext cx="822960" cy="585216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120640" y="16322040"/>
            <a:ext cx="3291840" cy="2011680"/>
          </a:xfrm>
          <a:prstGeom prst="roundRect">
            <a:avLst>
              <a:gd name="adj" fmla="val 14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语义分析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549640" y="17035272"/>
            <a:ext cx="822960" cy="585216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55480" y="15956280"/>
            <a:ext cx="2743200" cy="1280160"/>
          </a:xfrm>
          <a:prstGeom prst="roundRect">
            <a:avLst>
              <a:gd name="adj" fmla="val 14000"/>
            </a:avLst>
          </a:prstGeom>
          <a:solidFill>
            <a:srgbClr val="F1EAF6"/>
          </a:solidFill>
          <a:ln w="12700">
            <a:solidFill>
              <a:srgbClr val="AD8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88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意图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573000" y="15956280"/>
            <a:ext cx="2743200" cy="1280160"/>
          </a:xfrm>
          <a:prstGeom prst="roundRect">
            <a:avLst>
              <a:gd name="adj" fmla="val 14000"/>
            </a:avLst>
          </a:prstGeom>
          <a:solidFill>
            <a:srgbClr val="F1EAF6"/>
          </a:solidFill>
          <a:ln w="12700">
            <a:solidFill>
              <a:srgbClr val="AD8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88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紧急度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55480" y="17510760"/>
            <a:ext cx="2743200" cy="1280160"/>
          </a:xfrm>
          <a:prstGeom prst="roundRect">
            <a:avLst>
              <a:gd name="adj" fmla="val 14000"/>
            </a:avLst>
          </a:prstGeom>
          <a:solidFill>
            <a:srgbClr val="F1EAF6"/>
          </a:solidFill>
          <a:ln w="12700">
            <a:solidFill>
              <a:srgbClr val="AD8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88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需回复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573000" y="17510760"/>
            <a:ext cx="2743200" cy="1280160"/>
          </a:xfrm>
          <a:prstGeom prst="roundRect">
            <a:avLst>
              <a:gd name="adj" fmla="val 14000"/>
            </a:avLst>
          </a:prstGeom>
          <a:solidFill>
            <a:srgbClr val="F1EAF6"/>
          </a:solidFill>
          <a:ln w="12700">
            <a:solidFill>
              <a:srgbClr val="AD8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88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含日程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19156680"/>
            <a:ext cx="14356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36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系统用大模型读懂每封邮件，而非简单关键词匹配：判断邮件意图（会议 / 任务 / 通知等）、紧急程度、是否需要你亲自回复、以及是否包含日程信息。它能结合语气与上下文做判断——例如区分『仅供知悉』的通知与真正需要你行动的请求，输出结构化结果供后续模块复用。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20665440"/>
            <a:ext cx="14356080" cy="1783080"/>
          </a:xfrm>
          <a:prstGeom prst="roundRect">
            <a:avLst>
              <a:gd name="adj" fmla="val 5000"/>
            </a:avLst>
          </a:prstGeom>
          <a:solidFill>
            <a:srgbClr val="F1EAF6"/>
          </a:solidFill>
          <a:ln w="15875">
            <a:solidFill>
              <a:srgbClr val="AD8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28600" tIns="128016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88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分析示例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72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邮件：「李教授：周四下午 3 点方便讨论论文实验吗？」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72" b="0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→ 意图＝会议请求 · 紧急度＝中 · 需回复＝是 · 含日程＝是（周四 15:00）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6486632" y="14813280"/>
            <a:ext cx="15270480" cy="8138160"/>
          </a:xfrm>
          <a:prstGeom prst="roundRect">
            <a:avLst>
              <a:gd name="adj" fmla="val 2000"/>
            </a:avLst>
          </a:prstGeom>
          <a:solidFill>
            <a:srgbClr val="F9F6FC"/>
          </a:solidFill>
          <a:ln w="19050">
            <a:solidFill>
              <a:srgbClr val="DDD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6486632" y="14813280"/>
            <a:ext cx="15270480" cy="914400"/>
          </a:xfrm>
          <a:prstGeom prst="roundRect">
            <a:avLst>
              <a:gd name="adj" fmla="val 12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47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优先级评分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943832" y="16139160"/>
            <a:ext cx="4206240" cy="1097280"/>
          </a:xfrm>
          <a:prstGeom prst="roundRect">
            <a:avLst>
              <a:gd name="adj" fmla="val 14000"/>
            </a:avLst>
          </a:prstGeom>
          <a:solidFill>
            <a:srgbClr val="F1EAF6"/>
          </a:solidFill>
          <a:ln w="12700">
            <a:solidFill>
              <a:srgbClr val="AD8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发件人权重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943832" y="17373600"/>
            <a:ext cx="4206240" cy="1097280"/>
          </a:xfrm>
          <a:prstGeom prst="roundRect">
            <a:avLst>
              <a:gd name="adj" fmla="val 14000"/>
            </a:avLst>
          </a:prstGeom>
          <a:solidFill>
            <a:srgbClr val="F1EAF6"/>
          </a:solidFill>
          <a:ln w="12700">
            <a:solidFill>
              <a:srgbClr val="AD8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截止日期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943832" y="18608040"/>
            <a:ext cx="4206240" cy="1097280"/>
          </a:xfrm>
          <a:prstGeom prst="roundRect">
            <a:avLst>
              <a:gd name="adj" fmla="val 14000"/>
            </a:avLst>
          </a:prstGeom>
          <a:solidFill>
            <a:srgbClr val="F1EAF6"/>
          </a:solidFill>
          <a:ln w="12700">
            <a:solidFill>
              <a:srgbClr val="AD8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邮件意图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6943832" y="19842480"/>
            <a:ext cx="4206240" cy="1097280"/>
          </a:xfrm>
          <a:prstGeom prst="roundRect">
            <a:avLst>
              <a:gd name="adj" fmla="val 14000"/>
            </a:avLst>
          </a:prstGeom>
          <a:solidFill>
            <a:srgbClr val="F1EAF6"/>
          </a:solidFill>
          <a:ln w="12700">
            <a:solidFill>
              <a:srgbClr val="AD8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紧急程度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21287232" y="17967960"/>
            <a:ext cx="1005840" cy="73152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430232" y="17419320"/>
            <a:ext cx="3657600" cy="1828800"/>
          </a:xfrm>
          <a:prstGeom prst="roundRect">
            <a:avLst>
              <a:gd name="adj" fmla="val 14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32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综合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32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评分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26224992" y="17967960"/>
            <a:ext cx="1005840" cy="73152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7230832" y="16779240"/>
            <a:ext cx="3840480" cy="749808"/>
          </a:xfrm>
          <a:prstGeom prst="roundRect">
            <a:avLst>
              <a:gd name="adj" fmla="val 14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5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Critical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230832" y="17647920"/>
            <a:ext cx="3840480" cy="749808"/>
          </a:xfrm>
          <a:prstGeom prst="roundRect">
            <a:avLst>
              <a:gd name="adj" fmla="val 14000"/>
            </a:avLst>
          </a:prstGeom>
          <a:solidFill>
            <a:srgbClr val="9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5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High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230832" y="18516600"/>
            <a:ext cx="3840480" cy="749808"/>
          </a:xfrm>
          <a:prstGeom prst="roundRect">
            <a:avLst>
              <a:gd name="adj" fmla="val 14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5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Medium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230832" y="19385280"/>
            <a:ext cx="3840480" cy="749808"/>
          </a:xfrm>
          <a:prstGeom prst="roundRect">
            <a:avLst>
              <a:gd name="adj" fmla="val 14000"/>
            </a:avLst>
          </a:prstGeom>
          <a:solidFill>
            <a:srgbClr val="E3D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55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943832" y="21442680"/>
            <a:ext cx="1435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68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规则(发件人权重 / 截止日期)与 LLM 综合打分，重要邮件自动排到最前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23225760"/>
            <a:ext cx="15270480" cy="8138160"/>
          </a:xfrm>
          <a:prstGeom prst="roundRect">
            <a:avLst>
              <a:gd name="adj" fmla="val 2000"/>
            </a:avLst>
          </a:prstGeom>
          <a:solidFill>
            <a:srgbClr val="F9F6FC"/>
          </a:solidFill>
          <a:ln w="19050">
            <a:solidFill>
              <a:srgbClr val="DDD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0080" y="23225760"/>
            <a:ext cx="15270480" cy="914400"/>
          </a:xfrm>
          <a:prstGeom prst="roundRect">
            <a:avLst>
              <a:gd name="adj" fmla="val 12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47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日历调度 · 冲突避让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97280" y="24643080"/>
            <a:ext cx="4358640" cy="1554480"/>
          </a:xfrm>
          <a:prstGeom prst="roundRect">
            <a:avLst>
              <a:gd name="adj" fmla="val 14000"/>
            </a:avLst>
          </a:prstGeom>
          <a:solidFill>
            <a:srgbClr val="F1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时间短语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「周四 15:00」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5583936" y="25146000"/>
            <a:ext cx="384047" cy="54864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096000" y="24643080"/>
            <a:ext cx="4358640" cy="1554480"/>
          </a:xfrm>
          <a:prstGeom prst="roundRect">
            <a:avLst>
              <a:gd name="adj" fmla="val 14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LLM 解析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起止时间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10582656" y="25146000"/>
            <a:ext cx="384047" cy="54864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1094720" y="24643080"/>
            <a:ext cx="4358640" cy="1554480"/>
          </a:xfrm>
          <a:prstGeom prst="roundRect">
            <a:avLst>
              <a:gd name="adj" fmla="val 14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冲突检测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4274820" y="26380439"/>
            <a:ext cx="548640" cy="594360"/>
          </a:xfrm>
          <a:prstGeom prst="down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97280" y="27157680"/>
            <a:ext cx="6903720" cy="1645920"/>
          </a:xfrm>
          <a:prstGeom prst="roundRect">
            <a:avLst>
              <a:gd name="adj" fmla="val 14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无冲突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→ 建 Google Calendar 事件</a:t>
            </a:r>
          </a:p>
        </p:txBody>
      </p:sp>
      <p:sp>
        <p:nvSpPr>
          <p:cNvPr id="60" name="Down Arrow 59"/>
          <p:cNvSpPr/>
          <p:nvPr/>
        </p:nvSpPr>
        <p:spPr>
          <a:xfrm>
            <a:off x="11727180" y="26380439"/>
            <a:ext cx="548640" cy="594360"/>
          </a:xfrm>
          <a:prstGeom prst="down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549640" y="27157680"/>
            <a:ext cx="6903720" cy="1645920"/>
          </a:xfrm>
          <a:prstGeom prst="roundRect">
            <a:avLst>
              <a:gd name="adj" fmla="val 14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有冲突 → 查日历空闲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避让 / 建议最近可行时段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" y="29626560"/>
            <a:ext cx="14356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36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从邮件中解析出具体起止时间，并与日历中已有事件比对。无冲突则直接创建 Google Calendar 事件；一旦冲突，会在工作时间内查找最近的空闲时段，自动避让，或在回复中给出可行的改期建议。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6486632" y="23225760"/>
            <a:ext cx="15270480" cy="8138160"/>
          </a:xfrm>
          <a:prstGeom prst="roundRect">
            <a:avLst>
              <a:gd name="adj" fmla="val 2000"/>
            </a:avLst>
          </a:prstGeom>
          <a:solidFill>
            <a:srgbClr val="F9F6FC"/>
          </a:solidFill>
          <a:ln w="19050">
            <a:solidFill>
              <a:srgbClr val="DDD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6486632" y="23225760"/>
            <a:ext cx="15270480" cy="914400"/>
          </a:xfrm>
          <a:prstGeom prst="roundRect">
            <a:avLst>
              <a:gd name="adj" fmla="val 12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47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个性化回复生成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6943832" y="24643080"/>
            <a:ext cx="4023360" cy="1371600"/>
          </a:xfrm>
          <a:prstGeom prst="roundRect">
            <a:avLst>
              <a:gd name="adj" fmla="val 14000"/>
            </a:avLst>
          </a:prstGeom>
          <a:solidFill>
            <a:srgbClr val="F1EAF6"/>
          </a:solidFill>
          <a:ln w="12700">
            <a:solidFill>
              <a:srgbClr val="AD8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88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原邮件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6943832" y="26289000"/>
            <a:ext cx="4023360" cy="1371600"/>
          </a:xfrm>
          <a:prstGeom prst="roundRect">
            <a:avLst>
              <a:gd name="adj" fmla="val 14000"/>
            </a:avLst>
          </a:prstGeom>
          <a:solidFill>
            <a:srgbClr val="F1EAF6"/>
          </a:solidFill>
          <a:ln w="12700">
            <a:solidFill>
              <a:srgbClr val="AD8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用户风格 / 签名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21104352" y="25694640"/>
            <a:ext cx="914400" cy="73152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2155912" y="25100280"/>
            <a:ext cx="3840480" cy="2011680"/>
          </a:xfrm>
          <a:prstGeom prst="roundRect">
            <a:avLst>
              <a:gd name="adj" fmla="val 14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生成回复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26133552" y="25694640"/>
            <a:ext cx="914400" cy="73152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27185112" y="25100280"/>
            <a:ext cx="4114800" cy="2011680"/>
          </a:xfrm>
          <a:prstGeom prst="roundRect">
            <a:avLst>
              <a:gd name="adj" fmla="val 14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回复草稿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Gmail 草稿/发送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943832" y="27980640"/>
            <a:ext cx="14356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36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结合原邮件内容与你的写作风格、签名，用大模型生成自然、得体的回复草稿；若与现有日程冲突，会引用日历空闲时段提出具体的改期时间，确认后一键存草稿或发送。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6943832" y="29032200"/>
            <a:ext cx="14356080" cy="1828800"/>
          </a:xfrm>
          <a:prstGeom prst="roundRect">
            <a:avLst>
              <a:gd name="adj" fmla="val 5000"/>
            </a:avLst>
          </a:prstGeom>
          <a:solidFill>
            <a:srgbClr val="F1EAF6"/>
          </a:solidFill>
          <a:ln w="15875">
            <a:solidFill>
              <a:srgbClr val="AD8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28600" tIns="12801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88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回复草稿示例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72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· 会议冲突：「周四 15:00 与组会冲突，建议改到 16:00 或周五 10:00，您看是否方便？」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72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· 任务确认：「收到，我会在本周五前完成季度报告并发您审阅。」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72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· 礼貌婉拒：「感谢邀请，这周时间已排满，下周二之后我都方便。」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0080" y="31638240"/>
            <a:ext cx="15270480" cy="8138160"/>
          </a:xfrm>
          <a:prstGeom prst="roundRect">
            <a:avLst>
              <a:gd name="adj" fmla="val 2000"/>
            </a:avLst>
          </a:prstGeom>
          <a:solidFill>
            <a:srgbClr val="F9F6FC"/>
          </a:solidFill>
          <a:ln w="19050">
            <a:solidFill>
              <a:srgbClr val="DDD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40080" y="31638240"/>
            <a:ext cx="15270480" cy="914400"/>
          </a:xfrm>
          <a:prstGeom prst="roundRect">
            <a:avLst>
              <a:gd name="adj" fmla="val 12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47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Google 生态集成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280160" y="33147000"/>
            <a:ext cx="5486400" cy="2103120"/>
          </a:xfrm>
          <a:prstGeom prst="roundRect">
            <a:avLst>
              <a:gd name="adj" fmla="val 14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Gmail API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读取 / 发送 / 标记已读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草稿与标签管理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784080" y="33147000"/>
            <a:ext cx="5486400" cy="2103120"/>
          </a:xfrm>
          <a:prstGeom prst="roundRect">
            <a:avLst>
              <a:gd name="adj" fmla="val 14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Calendar API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日程读写 / 查询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72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冲突检测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714999" y="35570160"/>
            <a:ext cx="5120640" cy="1737360"/>
          </a:xfrm>
          <a:prstGeom prst="roundRect">
            <a:avLst>
              <a:gd name="adj" fmla="val 14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4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Mail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4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OAuth2 一次授权</a:t>
            </a:r>
          </a:p>
        </p:txBody>
      </p:sp>
      <p:sp>
        <p:nvSpPr>
          <p:cNvPr id="78" name="Left Arrow 77"/>
          <p:cNvSpPr/>
          <p:nvPr/>
        </p:nvSpPr>
        <p:spPr>
          <a:xfrm>
            <a:off x="6903720" y="34107120"/>
            <a:ext cx="1188720" cy="640080"/>
          </a:xfrm>
          <a:prstGeom prst="lef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ight Arrow 78"/>
          <p:cNvSpPr/>
          <p:nvPr/>
        </p:nvSpPr>
        <p:spPr>
          <a:xfrm>
            <a:off x="8458199" y="34107120"/>
            <a:ext cx="1188720" cy="64008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97280" y="37627560"/>
            <a:ext cx="1435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36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通过 OAuth2 一次授权，原生读写真实的 Gmail 与 Google Calendar（scopes：gmail.modify / gmail.send / calendar）：拉取未读、建 / 查日程并检测冲突、生成草稿或发送；未授权或离线时自动降级为本地模式，其余功能照常运行。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6486632" y="31638240"/>
            <a:ext cx="15270480" cy="8138160"/>
          </a:xfrm>
          <a:prstGeom prst="roundRect">
            <a:avLst>
              <a:gd name="adj" fmla="val 2000"/>
            </a:avLst>
          </a:prstGeom>
          <a:solidFill>
            <a:srgbClr val="F9F6FC"/>
          </a:solidFill>
          <a:ln w="19050">
            <a:solidFill>
              <a:srgbClr val="DDD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6486632" y="31638240"/>
            <a:ext cx="15270480" cy="914400"/>
          </a:xfrm>
          <a:prstGeom prst="roundRect">
            <a:avLst>
              <a:gd name="adj" fmla="val 12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47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技术栈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6943832" y="32872680"/>
            <a:ext cx="14356080" cy="1051560"/>
          </a:xfrm>
          <a:prstGeom prst="roundRect">
            <a:avLst>
              <a:gd name="adj" fmla="val 14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大模型  GLM-4.6（Coding Plan 端点）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6943832" y="34198560"/>
            <a:ext cx="14356080" cy="1051560"/>
          </a:xfrm>
          <a:prstGeom prst="roundRect">
            <a:avLst>
              <a:gd name="adj" fmla="val 14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后端  FastAPI + Pydantic v2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6943832" y="35524440"/>
            <a:ext cx="14356080" cy="1051560"/>
          </a:xfrm>
          <a:prstGeom prst="roundRect">
            <a:avLst>
              <a:gd name="adj" fmla="val 14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前端  HTMX + Alpine.js 仪表板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6943832" y="36850320"/>
            <a:ext cx="14356080" cy="1051560"/>
          </a:xfrm>
          <a:prstGeom prst="roundRect">
            <a:avLst>
              <a:gd name="adj" fmla="val 14000"/>
            </a:avLst>
          </a:prstGeom>
          <a:solidFill>
            <a:srgbClr val="E3D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88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命令行  Typer + Rich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943832" y="38313360"/>
            <a:ext cx="1435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68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全栈一体：大模型 + Web 后端 / 前端 + CLI，pytest 覆盖</a:t>
            </a:r>
          </a:p>
        </p:txBody>
      </p:sp>
    </p:spTree>
    <p:extLst>
      <p:ext uri="{BB962C8B-B14F-4D97-AF65-F5344CB8AC3E}">
        <p14:creationId xmlns:p14="http://schemas.microsoft.com/office/powerpoint/2010/main" val="1051410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46</Words>
  <Application>Microsoft Macintosh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微软雅黑</vt:lpstr>
      <vt:lpstr>Arial</vt:lpstr>
      <vt:lpstr>Office 主题​​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</dc:creator>
  <cp:lastModifiedBy>Fanco Iong</cp:lastModifiedBy>
  <cp:revision>16</cp:revision>
  <dcterms:created xsi:type="dcterms:W3CDTF">2023-09-01T11:42:48Z</dcterms:created>
  <dcterms:modified xsi:type="dcterms:W3CDTF">2026-05-27T15:58:34Z</dcterms:modified>
</cp:coreProperties>
</file>